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9833479E-760E-461E-BDFA-88DCC415B791}" type="datetimeFigureOut">
              <a:rPr lang="sr-Latn-RS" smtClean="0"/>
              <a:t>2.6.2024.</a:t>
            </a:fld>
            <a:endParaRPr lang="sr-Latn-R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sr-Latn-R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5D0E4757-A3CA-4970-85EA-E00FFABB53B2}" type="slidenum">
              <a:rPr lang="sr-Latn-RS" smtClean="0"/>
              <a:t>‹#›</a:t>
            </a:fld>
            <a:endParaRPr lang="sr-Latn-R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479E-760E-461E-BDFA-88DCC415B791}" type="datetimeFigureOut">
              <a:rPr lang="sr-Latn-RS" smtClean="0"/>
              <a:t>2.6.2024.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E4757-A3CA-4970-85EA-E00FFABB53B2}" type="slidenum">
              <a:rPr lang="sr-Latn-RS" smtClean="0"/>
              <a:t>‹#›</a:t>
            </a:fld>
            <a:endParaRPr lang="sr-Latn-R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479E-760E-461E-BDFA-88DCC415B791}" type="datetimeFigureOut">
              <a:rPr lang="sr-Latn-RS" smtClean="0"/>
              <a:t>2.6.2024.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E4757-A3CA-4970-85EA-E00FFABB53B2}" type="slidenum">
              <a:rPr lang="sr-Latn-RS" smtClean="0"/>
              <a:t>‹#›</a:t>
            </a:fld>
            <a:endParaRPr lang="sr-Latn-R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479E-760E-461E-BDFA-88DCC415B791}" type="datetimeFigureOut">
              <a:rPr lang="sr-Latn-RS" smtClean="0"/>
              <a:t>2.6.2024.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E4757-A3CA-4970-85EA-E00FFABB53B2}" type="slidenum">
              <a:rPr lang="sr-Latn-RS" smtClean="0"/>
              <a:t>‹#›</a:t>
            </a:fld>
            <a:endParaRPr lang="sr-Latn-R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833479E-760E-461E-BDFA-88DCC415B791}" type="datetimeFigureOut">
              <a:rPr lang="sr-Latn-RS" smtClean="0"/>
              <a:t>2.6.2024.</a:t>
            </a:fld>
            <a:endParaRPr lang="sr-Latn-R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D0E4757-A3CA-4970-85EA-E00FFABB53B2}" type="slidenum">
              <a:rPr lang="sr-Latn-RS" smtClean="0"/>
              <a:t>‹#›</a:t>
            </a:fld>
            <a:endParaRPr lang="sr-Latn-R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sr-Latn-R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9833479E-760E-461E-BDFA-88DCC415B791}" type="datetimeFigureOut">
              <a:rPr lang="sr-Latn-RS" smtClean="0"/>
              <a:t>2.6.2024.</a:t>
            </a:fld>
            <a:endParaRPr lang="sr-Latn-R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sr-Latn-R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5D0E4757-A3CA-4970-85EA-E00FFABB53B2}" type="slidenum">
              <a:rPr lang="sr-Latn-RS" smtClean="0"/>
              <a:t>‹#›</a:t>
            </a:fld>
            <a:endParaRPr lang="sr-Latn-R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479E-760E-461E-BDFA-88DCC415B791}" type="datetimeFigureOut">
              <a:rPr lang="sr-Latn-RS" smtClean="0"/>
              <a:t>2.6.2024.</a:t>
            </a:fld>
            <a:endParaRPr lang="sr-Latn-R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E4757-A3CA-4970-85EA-E00FFABB53B2}" type="slidenum">
              <a:rPr lang="sr-Latn-RS" smtClean="0"/>
              <a:t>‹#›</a:t>
            </a:fld>
            <a:endParaRPr lang="sr-Latn-R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479E-760E-461E-BDFA-88DCC415B791}" type="datetimeFigureOut">
              <a:rPr lang="sr-Latn-RS" smtClean="0"/>
              <a:t>2.6.2024.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E4757-A3CA-4970-85EA-E00FFABB53B2}" type="slidenum">
              <a:rPr lang="sr-Latn-RS" smtClean="0"/>
              <a:t>‹#›</a:t>
            </a:fld>
            <a:endParaRPr lang="sr-Latn-R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479E-760E-461E-BDFA-88DCC415B791}" type="datetimeFigureOut">
              <a:rPr lang="sr-Latn-RS" smtClean="0"/>
              <a:t>2.6.2024.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E4757-A3CA-4970-85EA-E00FFABB53B2}" type="slidenum">
              <a:rPr lang="sr-Latn-RS" smtClean="0"/>
              <a:t>‹#›</a:t>
            </a:fld>
            <a:endParaRPr lang="sr-Latn-R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479E-760E-461E-BDFA-88DCC415B791}" type="datetimeFigureOut">
              <a:rPr lang="sr-Latn-RS" smtClean="0"/>
              <a:t>2.6.2024.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E4757-A3CA-4970-85EA-E00FFABB53B2}" type="slidenum">
              <a:rPr lang="sr-Latn-RS" smtClean="0"/>
              <a:t>‹#›</a:t>
            </a:fld>
            <a:endParaRPr lang="sr-Latn-R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479E-760E-461E-BDFA-88DCC415B791}" type="datetimeFigureOut">
              <a:rPr lang="sr-Latn-RS" smtClean="0"/>
              <a:t>2.6.2024.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E4757-A3CA-4970-85EA-E00FFABB53B2}" type="slidenum">
              <a:rPr lang="sr-Latn-RS" smtClean="0"/>
              <a:t>‹#›</a:t>
            </a:fld>
            <a:endParaRPr lang="sr-Latn-R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9833479E-760E-461E-BDFA-88DCC415B791}" type="datetimeFigureOut">
              <a:rPr lang="sr-Latn-RS" smtClean="0"/>
              <a:t>2.6.2024.</a:t>
            </a:fld>
            <a:endParaRPr lang="sr-Latn-R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sr-Latn-R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5D0E4757-A3CA-4970-85EA-E00FFABB53B2}" type="slidenum">
              <a:rPr lang="sr-Latn-RS" smtClean="0"/>
              <a:t>‹#›</a:t>
            </a:fld>
            <a:endParaRPr lang="sr-Latn-R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nline-python.com/" TargetMode="External"/><Relationship Id="rId2" Type="http://schemas.openxmlformats.org/officeDocument/2006/relationships/hyperlink" Target="https://www.programiz.com/python-programming/online-compile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onlinegdb.com/online_python_compil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Cyrl-RS" dirty="0" smtClean="0"/>
              <a:t>Лаб. задатак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4269379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764704"/>
                <a:ext cx="8496944" cy="5809832"/>
              </a:xfrm>
            </p:spPr>
            <p:txBody>
              <a:bodyPr/>
              <a:lstStyle/>
              <a:p>
                <a:r>
                  <a:rPr lang="sr-Cyrl-RS" dirty="0" smtClean="0"/>
                  <a:t>Вероватноћа догађаја А(</a:t>
                </a:r>
                <a:r>
                  <a:rPr lang="sr-Latn-RS" dirty="0" smtClean="0"/>
                  <a:t>p(A)) </a:t>
                </a:r>
                <a:r>
                  <a:rPr lang="sr-Cyrl-RS" dirty="0" smtClean="0"/>
                  <a:t>рачуна се по формули:</a:t>
                </a:r>
              </a:p>
              <a:p>
                <a:pPr marL="109728" indent="0">
                  <a:buNone/>
                </a:pPr>
                <a:r>
                  <a:rPr lang="sr-Latn-RS" dirty="0" smtClean="0"/>
                  <a:t>p(A):</a:t>
                </a:r>
                <a:r>
                  <a:rPr lang="sr-Cyrl-R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r-Cyrl-RS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sr-Cyrl-RS" b="0" i="1" smtClean="0">
                            <a:latin typeface="Cambria Math"/>
                          </a:rPr>
                          <m:t>број повољних догађаја исхода</m:t>
                        </m:r>
                      </m:num>
                      <m:den>
                        <m:r>
                          <a:rPr lang="sr-Cyrl-RS" b="0" i="1" smtClean="0">
                            <a:latin typeface="Cambria Math"/>
                          </a:rPr>
                          <m:t>укупан број исхода</m:t>
                        </m:r>
                      </m:den>
                    </m:f>
                  </m:oMath>
                </a14:m>
                <a:endParaRPr lang="sr-Cyrl-RS" dirty="0" smtClean="0"/>
              </a:p>
              <a:p>
                <a:r>
                  <a:rPr lang="sr-Cyrl-RS" dirty="0" smtClean="0"/>
                  <a:t>Укупан број исхода при бацању две хомогене коцкице је 6*6=36, док су повољни исходи: </a:t>
                </a:r>
                <a:r>
                  <a:rPr lang="en-US" dirty="0" smtClean="0"/>
                  <a:t>{</a:t>
                </a:r>
                <a:r>
                  <a:rPr lang="sr-Cyrl-RS" dirty="0" smtClean="0"/>
                  <a:t>16,25,34,43,52,61</a:t>
                </a:r>
                <a:r>
                  <a:rPr lang="en-US" dirty="0" smtClean="0"/>
                  <a:t>}</a:t>
                </a:r>
                <a:r>
                  <a:rPr lang="sr-Cyrl-RS" dirty="0" smtClean="0"/>
                  <a:t>, што чини шест повољних исхода. Према изнад написаној формули добијамо да је вероватноћа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r-Cyrl-RS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sr-Cyrl-RS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sr-Cyrl-RS" b="0" i="1" smtClean="0">
                            <a:latin typeface="Cambria Math"/>
                          </a:rPr>
                          <m:t>6</m:t>
                        </m:r>
                      </m:den>
                    </m:f>
                  </m:oMath>
                </a14:m>
                <a:r>
                  <a:rPr lang="sr-Cyrl-RS" dirty="0" smtClean="0"/>
                  <a:t>.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64704"/>
                <a:ext cx="8496944" cy="5809832"/>
              </a:xfrm>
              <a:blipFill rotWithShape="1">
                <a:blip r:embed="rId2"/>
                <a:stretch>
                  <a:fillRect l="-143" t="-1048"/>
                </a:stretch>
              </a:blipFill>
            </p:spPr>
            <p:txBody>
              <a:bodyPr/>
              <a:lstStyle/>
              <a:p>
                <a:r>
                  <a:rPr lang="sr-Latn-R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404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536" y="692696"/>
            <a:ext cx="8126810" cy="5981296"/>
          </a:xfrm>
        </p:spPr>
        <p:txBody>
          <a:bodyPr/>
          <a:lstStyle/>
          <a:p>
            <a:pPr marL="109728" indent="0">
              <a:buNone/>
            </a:pPr>
            <a:r>
              <a:rPr lang="sr-Cyrl-RS" dirty="0" smtClean="0"/>
              <a:t>Прво генеришемо узорак који даље користимо помоћу рачунара.</a:t>
            </a:r>
            <a:r>
              <a:rPr lang="en-US" dirty="0" smtClean="0"/>
              <a:t> </a:t>
            </a:r>
            <a:r>
              <a:rPr lang="sr-Cyrl-RS" dirty="0" smtClean="0"/>
              <a:t>Рецимо да ћемо надаље користити на слици наведен узорак обима 35.</a:t>
            </a:r>
            <a:endParaRPr lang="sr-Latn-R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76"/>
          <a:stretch/>
        </p:blipFill>
        <p:spPr bwMode="auto">
          <a:xfrm>
            <a:off x="539552" y="2420888"/>
            <a:ext cx="7819987" cy="3904508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4779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548680"/>
                <a:ext cx="8928992" cy="6165304"/>
              </a:xfrm>
            </p:spPr>
            <p:txBody>
              <a:bodyPr/>
              <a:lstStyle/>
              <a:p>
                <a:pPr marL="109728" indent="0">
                  <a:buNone/>
                </a:pPr>
                <a:r>
                  <a:rPr lang="sr-Cyrl-RS" sz="2200" dirty="0" smtClean="0"/>
                  <a:t>У првом делу задатка потребно је помоћу методе максималне веродостојности одредити непознату вероватноћу </a:t>
                </a:r>
                <a:r>
                  <a:rPr lang="sr-Latn-RS" sz="2200" dirty="0" smtClean="0"/>
                  <a:t>p.</a:t>
                </a:r>
                <a:r>
                  <a:rPr lang="sr-Cyrl-RS" sz="2200" dirty="0" smtClean="0"/>
                  <a:t>Први корак је одредити функцију веродостојности </a:t>
                </a:r>
                <a:r>
                  <a:rPr lang="sr-Latn-RS" sz="2200" dirty="0" smtClean="0"/>
                  <a:t>L</a:t>
                </a:r>
                <a:r>
                  <a:rPr lang="en-US" sz="2200" dirty="0" smtClean="0"/>
                  <a:t>(p) </a:t>
                </a:r>
                <a:r>
                  <a:rPr lang="sr-Cyrl-RS" sz="2200" dirty="0" smtClean="0"/>
                  <a:t>која се рачуна по следећој формули</a:t>
                </a:r>
                <a:r>
                  <a:rPr lang="en-US" sz="2200" i="1" dirty="0" smtClean="0"/>
                  <a:t>:L(p) = P(X1=x1,X2  = x2, …,</a:t>
                </a:r>
                <a:r>
                  <a:rPr lang="en-US" sz="2200" i="1" dirty="0" err="1" smtClean="0"/>
                  <a:t>Xn</a:t>
                </a:r>
                <a:r>
                  <a:rPr lang="en-US" sz="2200" i="1" dirty="0" smtClean="0"/>
                  <a:t> = </a:t>
                </a:r>
                <a:r>
                  <a:rPr lang="en-US" sz="2200" i="1" dirty="0" err="1" smtClean="0"/>
                  <a:t>xn</a:t>
                </a:r>
                <a:r>
                  <a:rPr lang="en-US" sz="2200" i="1" dirty="0" smtClean="0"/>
                  <a:t>)=</a:t>
                </a:r>
              </a:p>
              <a:p>
                <a:pPr marL="109728" indent="0">
                  <a:buNone/>
                </a:pPr>
                <a:r>
                  <a:rPr lang="en-US" sz="2200" i="1" dirty="0" smtClean="0"/>
                  <a:t>P(X1 = x1)P(X2=x2)P(X3 = x3)…P(</a:t>
                </a:r>
                <a:r>
                  <a:rPr lang="en-US" sz="2200" i="1" dirty="0" err="1" smtClean="0"/>
                  <a:t>Xn</a:t>
                </a:r>
                <a:r>
                  <a:rPr lang="en-US" sz="2200" i="1" dirty="0" smtClean="0"/>
                  <a:t> = </a:t>
                </a:r>
                <a:r>
                  <a:rPr lang="en-US" sz="2200" i="1" dirty="0" err="1" smtClean="0"/>
                  <a:t>xn</a:t>
                </a:r>
                <a:r>
                  <a:rPr lang="en-US" sz="2200" i="1" dirty="0" smtClean="0"/>
                  <a:t>).</a:t>
                </a:r>
                <a:r>
                  <a:rPr lang="sr-Cyrl-RS" sz="2200" dirty="0" smtClean="0"/>
                  <a:t>Такође потребно је познавати закон расподеле биномне расподеле који гл</a:t>
                </a:r>
                <a:r>
                  <a:rPr lang="en-US" sz="2200" dirty="0" smtClean="0"/>
                  <a:t>a</a:t>
                </a:r>
                <a:r>
                  <a:rPr lang="sr-Cyrl-RS" sz="2200" dirty="0" smtClean="0"/>
                  <a:t>си </a:t>
                </a:r>
                <a:r>
                  <a:rPr lang="sr-Latn-RS" sz="2200" dirty="0" smtClean="0"/>
                  <a:t>P</a:t>
                </a:r>
                <a:r>
                  <a:rPr lang="en-US" sz="2200" dirty="0" smtClean="0"/>
                  <a:t>(X = k)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i="1" smtClean="0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20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sr-Latn-RS" sz="2200" b="0" i="1" smtClean="0"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sr-Latn-RS" sz="2200" b="0" i="1" smtClean="0">
                                <a:latin typeface="Cambria Math"/>
                              </a:rPr>
                              <m:t>𝑘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sr-Latn-RS" sz="22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sr-Latn-RS" sz="2200" b="0" i="1" smtClean="0">
                            <a:latin typeface="Cambria Math"/>
                          </a:rPr>
                          <m:t>𝑝</m:t>
                        </m:r>
                      </m:e>
                      <m:sup>
                        <m:r>
                          <a:rPr lang="en-US" sz="2200" b="0" i="1" smtClean="0">
                            <a:latin typeface="Cambria Math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sr-Latn-RS" sz="22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/>
                          </a:rPr>
                          <m:t>𝑞</m:t>
                        </m:r>
                      </m:e>
                      <m:sup>
                        <m:r>
                          <a:rPr lang="en-US" sz="22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/>
                          </a:rPr>
                          <m:t>−</m:t>
                        </m:r>
                        <m:r>
                          <a:rPr lang="en-US" sz="2200" b="0" i="1" smtClean="0"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200" dirty="0" smtClean="0"/>
                  <a:t>,k=0,1,2… .</a:t>
                </a:r>
                <a:r>
                  <a:rPr lang="sr-Cyrl-RS" sz="2200" dirty="0" smtClean="0"/>
                  <a:t>Прво треба одредити колико пута се понављају бројеви у оквиру једног узорка што је приказано на следећој слици.Понављање броја 2 је први леви број након чега иду понављања следећих бројева који се налазе у узорку растућим редоседом. </a:t>
                </a:r>
                <a:endParaRPr lang="en-US" sz="2200" dirty="0" smtClean="0"/>
              </a:p>
              <a:p>
                <a:pPr marL="109728" indent="0">
                  <a:buNone/>
                </a:pPr>
                <a:endParaRPr lang="en-US" sz="2200" dirty="0" smtClean="0"/>
              </a:p>
              <a:p>
                <a:pPr marL="109728" indent="0">
                  <a:buNone/>
                </a:pPr>
                <a:endParaRPr lang="sr-Latn-R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548680"/>
                <a:ext cx="8928992" cy="6165304"/>
              </a:xfrm>
              <a:blipFill rotWithShape="1">
                <a:blip r:embed="rId2"/>
                <a:stretch>
                  <a:fillRect t="-593"/>
                </a:stretch>
              </a:blipFill>
            </p:spPr>
            <p:txBody>
              <a:bodyPr/>
              <a:lstStyle/>
              <a:p>
                <a:r>
                  <a:rPr lang="sr-Latn-R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1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0" t="77587" r="21513"/>
          <a:stretch/>
        </p:blipFill>
        <p:spPr bwMode="auto">
          <a:xfrm>
            <a:off x="323528" y="4653136"/>
            <a:ext cx="8352928" cy="1823863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645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620688"/>
            <a:ext cx="8435280" cy="5953848"/>
          </a:xfrm>
        </p:spPr>
        <p:txBody>
          <a:bodyPr/>
          <a:lstStyle/>
          <a:p>
            <a:r>
              <a:rPr lang="sr-Cyrl-RS" dirty="0" smtClean="0"/>
              <a:t>Након одређеног понављања сваког од бројева у датом узорку потребно је написати функцију веродостојности.Према претходно описаној формули имамо</a:t>
            </a:r>
            <a:r>
              <a:rPr lang="en-US" dirty="0" smtClean="0"/>
              <a:t>:</a:t>
            </a:r>
            <a:endParaRPr lang="sr-Latn-R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800288"/>
            <a:ext cx="8043827" cy="3581040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52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620688"/>
                <a:ext cx="8507288" cy="5953848"/>
              </a:xfrm>
            </p:spPr>
            <p:txBody>
              <a:bodyPr>
                <a:normAutofit/>
              </a:bodyPr>
              <a:lstStyle/>
              <a:p>
                <a:r>
                  <a:rPr lang="sr-Cyrl-RS" sz="2400" dirty="0" smtClean="0"/>
                  <a:t>Након чега је потребно поједноставити функцију веродостојности</a:t>
                </a:r>
                <a:r>
                  <a:rPr lang="en-US" sz="2400" dirty="0" smtClean="0"/>
                  <a:t>.</a:t>
                </a:r>
                <a:r>
                  <a:rPr lang="sr-Cyrl-RS" sz="2400" dirty="0" smtClean="0"/>
                  <a:t>С обзиром да је много једноставније рачунати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sr-Cyrl-RS" sz="2400" i="1" smtClean="0">
                            <a:latin typeface="Cambria Math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sr-Cyrl-RS" sz="240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/>
                              </a:rPr>
                              <m:t>𝑑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/>
                              </a:rPr>
                              <m:t>𝑑𝑝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sz="2400" dirty="0" smtClean="0"/>
                  <a:t>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i="0" smtClean="0">
                            <a:latin typeface="Cambria Math"/>
                          </a:rPr>
                          <m:t>ln</m:t>
                        </m:r>
                      </m:fName>
                      <m:e>
                        <m:r>
                          <a:rPr lang="en-US" sz="2400" b="0" i="1" smtClean="0">
                            <a:latin typeface="Cambria Math"/>
                          </a:rPr>
                          <m:t>𝐿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𝑝</m:t>
                        </m:r>
                      </m:e>
                    </m:func>
                  </m:oMath>
                </a14:m>
                <a:r>
                  <a:rPr lang="en-US" sz="2400" dirty="0" smtClean="0"/>
                  <a:t>)) </a:t>
                </a:r>
                <a:r>
                  <a:rPr lang="sr-Cyrl-RS" sz="2400" dirty="0" smtClean="0"/>
                  <a:t>него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r-Cyrl-RS" sz="24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/>
                          </a:rPr>
                          <m:t>𝑑</m:t>
                        </m:r>
                      </m:num>
                      <m:den>
                        <m:r>
                          <a:rPr lang="en-US" sz="2400" b="0" i="1" smtClean="0">
                            <a:latin typeface="Cambria Math"/>
                          </a:rPr>
                          <m:t>𝑑𝑝</m:t>
                        </m:r>
                      </m:den>
                    </m:f>
                  </m:oMath>
                </a14:m>
                <a:r>
                  <a:rPr lang="en-US" sz="2400" i="1" dirty="0" smtClean="0"/>
                  <a:t>L(p) </a:t>
                </a:r>
                <a:r>
                  <a:rPr lang="sr-Cyrl-RS" sz="2400" dirty="0" smtClean="0"/>
                  <a:t>као и чињеницу да функције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/>
                          </a:rPr>
                          <m:t>ln</m:t>
                        </m:r>
                      </m:fName>
                      <m:e>
                        <m:r>
                          <a:rPr lang="en-US" sz="2400" i="1">
                            <a:latin typeface="Cambria Math"/>
                          </a:rPr>
                          <m:t>𝐿</m:t>
                        </m:r>
                        <m:r>
                          <a:rPr lang="en-US" sz="2400" i="1">
                            <a:latin typeface="Cambria Math"/>
                          </a:rPr>
                          <m:t>(</m:t>
                        </m:r>
                        <m:r>
                          <a:rPr lang="en-US" sz="2400" i="1">
                            <a:latin typeface="Cambria Math"/>
                          </a:rPr>
                          <m:t>𝑝</m:t>
                        </m:r>
                      </m:e>
                    </m:func>
                    <m:r>
                      <a:rPr lang="en-US" sz="2400" b="0" i="1" smtClean="0">
                        <a:latin typeface="Cambria Math"/>
                      </a:rPr>
                      <m:t>) </m:t>
                    </m:r>
                    <m:r>
                      <a:rPr lang="sr-Cyrl-RS" sz="2400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sr-Cyrl-RS" sz="2400" dirty="0" smtClean="0"/>
                  <a:t>и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𝐿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en-US" sz="2400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sr-Cyrl-RS" sz="2400" dirty="0" smtClean="0"/>
                  <a:t>имају максимум у истој тачки одатле закључујемо да ћемо надаље користити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/>
                          </a:rPr>
                          <m:t>ln</m:t>
                        </m:r>
                      </m:fName>
                      <m:e>
                        <m:r>
                          <a:rPr lang="en-US" sz="2400" i="1">
                            <a:latin typeface="Cambria Math"/>
                          </a:rPr>
                          <m:t>𝐿</m:t>
                        </m:r>
                        <m:r>
                          <a:rPr lang="en-US" sz="2400" i="1">
                            <a:latin typeface="Cambria Math"/>
                          </a:rPr>
                          <m:t>(</m:t>
                        </m:r>
                        <m:r>
                          <a:rPr lang="en-US" sz="2400" i="1">
                            <a:latin typeface="Cambria Math"/>
                          </a:rPr>
                          <m:t>𝑝</m:t>
                        </m:r>
                      </m:e>
                    </m:func>
                    <m:r>
                      <a:rPr lang="en-US" sz="2400" b="0" i="1" smtClean="0">
                        <a:latin typeface="Cambria Math"/>
                      </a:rPr>
                      <m:t>).</m:t>
                    </m:r>
                  </m:oMath>
                </a14:m>
                <a:endParaRPr lang="sr-Latn-RS" sz="2400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620688"/>
                <a:ext cx="8507288" cy="5953848"/>
              </a:xfrm>
              <a:blipFill rotWithShape="1">
                <a:blip r:embed="rId2"/>
                <a:stretch>
                  <a:fillRect t="-819"/>
                </a:stretch>
              </a:blipFill>
            </p:spPr>
            <p:txBody>
              <a:bodyPr/>
              <a:lstStyle/>
              <a:p>
                <a:r>
                  <a:rPr lang="sr-Latn-R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5" t="68766"/>
          <a:stretch/>
        </p:blipFill>
        <p:spPr bwMode="auto">
          <a:xfrm rot="10800000">
            <a:off x="467544" y="3068960"/>
            <a:ext cx="8235340" cy="3475205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994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692696"/>
                <a:ext cx="8928992" cy="6165304"/>
              </a:xfrm>
            </p:spPr>
            <p:txBody>
              <a:bodyPr>
                <a:normAutofit/>
              </a:bodyPr>
              <a:lstStyle/>
              <a:p>
                <a:pPr marL="109728" indent="0">
                  <a:buNone/>
                </a:pPr>
                <a:r>
                  <a:rPr lang="sr-Cyrl-RS" sz="2400" dirty="0" smtClean="0"/>
                  <a:t>Сада је потребно наћи први извод функције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/>
                          </a:rPr>
                          <m:t>ln</m:t>
                        </m:r>
                      </m:fName>
                      <m:e>
                        <m:r>
                          <a:rPr lang="en-US" sz="2400" i="1">
                            <a:latin typeface="Cambria Math"/>
                          </a:rPr>
                          <m:t>𝐿</m:t>
                        </m:r>
                        <m:r>
                          <a:rPr lang="en-US" sz="2400" i="1">
                            <a:latin typeface="Cambria Math"/>
                          </a:rPr>
                          <m:t>(</m:t>
                        </m:r>
                        <m:r>
                          <a:rPr lang="en-US" sz="2400" i="1">
                            <a:latin typeface="Cambria Math"/>
                          </a:rPr>
                          <m:t>𝑝</m:t>
                        </m:r>
                      </m:e>
                    </m:func>
                    <m:r>
                      <a:rPr lang="en-US" sz="2400" i="1">
                        <a:latin typeface="Cambria Math"/>
                      </a:rPr>
                      <m:t>).</m:t>
                    </m:r>
                    <m:r>
                      <a:rPr lang="en-US" sz="2400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sr-Cyrl-RS" sz="2400" dirty="0" smtClean="0"/>
                  <a:t>Извод константи је нула па само преостаје наћи први извод функција које у себи садрже </a:t>
                </a:r>
                <a:r>
                  <a:rPr lang="en-US" sz="2400" dirty="0" smtClean="0"/>
                  <a:t>p.</a:t>
                </a:r>
                <a:r>
                  <a:rPr lang="sr-Cyrl-RS" sz="2400" dirty="0" smtClean="0"/>
                  <a:t>Користећи се правилом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sr-Latn-RS" sz="2400" i="1" smtClean="0">
                            <a:latin typeface="Cambria Math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sr-Latn-RS" sz="24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sr-Latn-RS" sz="2400" i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sSup>
                          <m:sSupPr>
                            <m:ctrlPr>
                              <a:rPr lang="sr-Latn-RS" sz="24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/>
                              </a:rPr>
                              <m:t>𝑏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US" sz="2400" dirty="0" smtClean="0"/>
                  <a:t>=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𝑏</m:t>
                    </m:r>
                    <m:func>
                      <m:funcPr>
                        <m:ctrlPr>
                          <a:rPr lang="en-US" sz="2400" b="0" i="1" dirty="0" smtClean="0">
                            <a:latin typeface="Cambria Math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b="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dirty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US" sz="2400" dirty="0" smtClean="0"/>
                  <a:t> </a:t>
                </a:r>
                <a:r>
                  <a:rPr lang="sr-Cyrl-RS" sz="2400" dirty="0" smtClean="0"/>
                  <a:t>лако се добија тражена вероватноћа.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692696"/>
                <a:ext cx="8928992" cy="6165304"/>
              </a:xfrm>
              <a:blipFill rotWithShape="1">
                <a:blip r:embed="rId2"/>
                <a:stretch>
                  <a:fillRect t="-791"/>
                </a:stretch>
              </a:blipFill>
            </p:spPr>
            <p:txBody>
              <a:bodyPr/>
              <a:lstStyle/>
              <a:p>
                <a:r>
                  <a:rPr lang="sr-Latn-R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73" t="-530" r="6341" b="33425"/>
          <a:stretch/>
        </p:blipFill>
        <p:spPr bwMode="auto">
          <a:xfrm rot="10800000">
            <a:off x="827584" y="2532354"/>
            <a:ext cx="7397416" cy="4033106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688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620688"/>
                <a:ext cx="8856984" cy="6120680"/>
              </a:xfrm>
            </p:spPr>
            <p:txBody>
              <a:bodyPr>
                <a:noAutofit/>
              </a:bodyPr>
              <a:lstStyle/>
              <a:p>
                <a:pPr marL="109728" indent="0">
                  <a:buNone/>
                </a:pPr>
                <a:r>
                  <a:rPr lang="sr-Cyrl-RS" sz="2400" dirty="0" smtClean="0"/>
                  <a:t>Треба још проверити да ли функција достиже </a:t>
                </a:r>
                <a:r>
                  <a:rPr lang="sr-Cyrl-RS" sz="2400" dirty="0" smtClean="0"/>
                  <a:t>максимум </a:t>
                </a:r>
                <a:r>
                  <a:rPr lang="sr-Cyrl-RS" sz="2400" dirty="0" smtClean="0"/>
                  <a:t>у тој тачки.Када је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sr-Cyrl-RS" sz="2400" i="1">
                            <a:latin typeface="Cambria Math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sr-Cyrl-RS" sz="24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/>
                              </a:rPr>
                              <m:t>𝑑</m:t>
                            </m:r>
                          </m:num>
                          <m:den>
                            <m:r>
                              <a:rPr lang="en-US" sz="2400" i="1">
                                <a:latin typeface="Cambria Math"/>
                              </a:rPr>
                              <m:t>𝑑𝑝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/>
                          </a:rPr>
                          <m:t>ln</m:t>
                        </m:r>
                      </m:fName>
                      <m:e>
                        <m:r>
                          <a:rPr lang="en-US" sz="2400" i="1">
                            <a:latin typeface="Cambria Math"/>
                          </a:rPr>
                          <m:t>𝐿</m:t>
                        </m:r>
                        <m:r>
                          <a:rPr lang="en-US" sz="2400" i="1">
                            <a:latin typeface="Cambria Math"/>
                          </a:rPr>
                          <m:t>(</m:t>
                        </m:r>
                        <m:r>
                          <a:rPr lang="en-US" sz="2400" i="1">
                            <a:latin typeface="Cambria Math"/>
                          </a:rPr>
                          <m:t>𝑝</m:t>
                        </m:r>
                      </m:e>
                    </m:func>
                  </m:oMath>
                </a14:m>
                <a:r>
                  <a:rPr lang="en-US" sz="2400" dirty="0"/>
                  <a:t>))</a:t>
                </a:r>
                <a:r>
                  <a:rPr lang="en-US" sz="2400" dirty="0" smtClean="0"/>
                  <a:t>&gt;0 </a:t>
                </a:r>
                <a:r>
                  <a:rPr lang="sr-Cyrl-RS" sz="2400" dirty="0" smtClean="0"/>
                  <a:t>добијемо да је параметар </a:t>
                </a:r>
                <a:r>
                  <a:rPr lang="en-US" sz="2400" dirty="0" smtClean="0"/>
                  <a:t>p &lt; 0</a:t>
                </a:r>
                <a:r>
                  <a:rPr lang="sr-Cyrl-RS" sz="2400" dirty="0" smtClean="0"/>
                  <a:t>.188</a:t>
                </a:r>
                <a:r>
                  <a:rPr lang="en-US" sz="2400" dirty="0" smtClean="0"/>
                  <a:t> </a:t>
                </a:r>
                <a:r>
                  <a:rPr lang="sr-Cyrl-RS" sz="2400" dirty="0" smtClean="0"/>
                  <a:t>док ако испитујемо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sr-Cyrl-RS" sz="2400" i="1">
                            <a:latin typeface="Cambria Math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sr-Cyrl-RS" sz="24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/>
                              </a:rPr>
                              <m:t>𝑑</m:t>
                            </m:r>
                          </m:num>
                          <m:den>
                            <m:r>
                              <a:rPr lang="en-US" sz="2400" i="1">
                                <a:latin typeface="Cambria Math"/>
                              </a:rPr>
                              <m:t>𝑑𝑝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/>
                          </a:rPr>
                          <m:t>ln</m:t>
                        </m:r>
                      </m:fName>
                      <m:e>
                        <m:r>
                          <a:rPr lang="en-US" sz="2400" i="1">
                            <a:latin typeface="Cambria Math"/>
                          </a:rPr>
                          <m:t>𝐿</m:t>
                        </m:r>
                        <m:r>
                          <a:rPr lang="en-US" sz="2400" i="1">
                            <a:latin typeface="Cambria Math"/>
                          </a:rPr>
                          <m:t>(</m:t>
                        </m:r>
                        <m:r>
                          <a:rPr lang="en-US" sz="2400" i="1">
                            <a:latin typeface="Cambria Math"/>
                          </a:rPr>
                          <m:t>𝑝</m:t>
                        </m:r>
                      </m:e>
                    </m:func>
                  </m:oMath>
                </a14:m>
                <a:r>
                  <a:rPr lang="en-US" sz="2400" dirty="0"/>
                  <a:t>))</a:t>
                </a:r>
                <a:r>
                  <a:rPr lang="en-US" sz="2400" dirty="0" smtClean="0"/>
                  <a:t>&lt;0 </a:t>
                </a:r>
                <a:r>
                  <a:rPr lang="sr-Cyrl-RS" sz="2400" dirty="0" smtClean="0"/>
                  <a:t>добијемо да је параметар </a:t>
                </a:r>
                <a:r>
                  <a:rPr lang="en-US" sz="2400" dirty="0" smtClean="0"/>
                  <a:t>p &gt; 0.188.</a:t>
                </a:r>
                <a:r>
                  <a:rPr lang="sr-Cyrl-RS" sz="2400" dirty="0" smtClean="0"/>
                  <a:t>Подсетимо се чињенице да када је први извод позитиван тада функција расте док у случају да је први извод негативан функција опада.Из ове чињенице једноставно се изводи</a:t>
                </a:r>
                <a:r>
                  <a:rPr lang="en-US" sz="2400" dirty="0" smtClean="0"/>
                  <a:t>:</a:t>
                </a:r>
                <a:endParaRPr lang="sr-Latn-RS" sz="2400" dirty="0" smtClean="0"/>
              </a:p>
              <a:p>
                <a:pPr marL="109728" indent="0">
                  <a:buNone/>
                </a:pPr>
                <a:endParaRPr lang="sr-Latn-RS" sz="2400" dirty="0"/>
              </a:p>
              <a:p>
                <a:pPr marL="109728" indent="0">
                  <a:buNone/>
                </a:pPr>
                <a:endParaRPr lang="sr-Latn-RS" sz="2400" dirty="0" smtClean="0"/>
              </a:p>
              <a:p>
                <a:pPr marL="109728" indent="0">
                  <a:buNone/>
                </a:pPr>
                <a:endParaRPr lang="sr-Latn-RS" sz="2400" dirty="0"/>
              </a:p>
              <a:p>
                <a:pPr marL="109728" indent="0">
                  <a:buNone/>
                </a:pPr>
                <a:endParaRPr lang="sr-Latn-RS" sz="2400" dirty="0" smtClean="0"/>
              </a:p>
              <a:p>
                <a:pPr marL="109728" indent="0">
                  <a:buNone/>
                </a:pPr>
                <a:endParaRPr lang="sr-Latn-RS" sz="2400" dirty="0"/>
              </a:p>
              <a:p>
                <a:pPr marL="109728" indent="0">
                  <a:buNone/>
                </a:pPr>
                <a:endParaRPr lang="sr-Cyrl-RS" sz="2400" dirty="0" smtClean="0"/>
              </a:p>
              <a:p>
                <a:pPr marL="109728" indent="0">
                  <a:buNone/>
                </a:pPr>
                <a:endParaRPr lang="en-US" sz="2400" dirty="0" smtClean="0"/>
              </a:p>
              <a:p>
                <a:pPr marL="109728" indent="0">
                  <a:buNone/>
                </a:pPr>
                <a:r>
                  <a:rPr lang="sr-Cyrl-RS" sz="2400" dirty="0" smtClean="0"/>
                  <a:t>Чиме је показано да је ово управо максимум функције.</a:t>
                </a:r>
                <a:endParaRPr lang="sr-Latn-R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620688"/>
                <a:ext cx="8856984" cy="6120680"/>
              </a:xfrm>
              <a:blipFill rotWithShape="1">
                <a:blip r:embed="rId2"/>
                <a:stretch>
                  <a:fillRect t="-797" r="-344" b="-1295"/>
                </a:stretch>
              </a:blipFill>
            </p:spPr>
            <p:txBody>
              <a:bodyPr/>
              <a:lstStyle/>
              <a:p>
                <a:r>
                  <a:rPr lang="sr-Latn-R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8" name="Picture 4" descr="https://cdn.discordapp.com/attachments/1162134744432115833/1246579341509529630/image.png?ex=665ce6fb&amp;is=665b957b&amp;hm=4e115781c8cc9fa0b56e1aac432df48c878711f4d53f1d93ffe995f27d88475d&amp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645024"/>
            <a:ext cx="6624736" cy="2671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206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620688"/>
                <a:ext cx="8784976" cy="6048672"/>
              </a:xfrm>
            </p:spPr>
            <p:txBody>
              <a:bodyPr>
                <a:normAutofit lnSpcReduction="10000"/>
              </a:bodyPr>
              <a:lstStyle/>
              <a:p>
                <a:pPr marL="109728" indent="0">
                  <a:buNone/>
                </a:pPr>
                <a:r>
                  <a:rPr lang="sr-Cyrl-RS" dirty="0" smtClean="0"/>
                  <a:t>У Другом делу потребно је пронаћи 95% интервал поверења за параметар </a:t>
                </a:r>
                <a:r>
                  <a:rPr lang="sr-Latn-RS" dirty="0" smtClean="0"/>
                  <a:t>p.</a:t>
                </a:r>
                <a:r>
                  <a:rPr lang="sr-Cyrl-RS" dirty="0" smtClean="0"/>
                  <a:t>Према Муавр-Лапласовој</a:t>
                </a:r>
                <a:r>
                  <a:rPr lang="en-US" dirty="0" smtClean="0"/>
                  <a:t> </a:t>
                </a:r>
                <a:r>
                  <a:rPr lang="sr-Cyrl-RS" dirty="0" smtClean="0"/>
                  <a:t>теореми случајна променљива која има </a:t>
                </a:r>
                <a:r>
                  <a:rPr lang="sr-Latn-RS" dirty="0" smtClean="0"/>
                  <a:t>X</a:t>
                </a:r>
                <a:r>
                  <a:rPr lang="sr-Latn-RS" b="1" dirty="0" smtClean="0"/>
                  <a:t>~</a:t>
                </a:r>
                <a:r>
                  <a:rPr lang="en-US" dirty="0" smtClean="0"/>
                  <a:t>Bin(</a:t>
                </a:r>
                <a:r>
                  <a:rPr lang="en-US" dirty="0" err="1" smtClean="0"/>
                  <a:t>n,p</a:t>
                </a:r>
                <a:r>
                  <a:rPr lang="en-US" dirty="0" smtClean="0"/>
                  <a:t>)</a:t>
                </a:r>
                <a:r>
                  <a:rPr lang="sr-Cyrl-RS" dirty="0"/>
                  <a:t> </a:t>
                </a:r>
                <a:r>
                  <a:rPr lang="sr-Cyrl-RS" dirty="0" smtClean="0"/>
                  <a:t>у случају да је </a:t>
                </a:r>
                <a:r>
                  <a:rPr lang="en-US" dirty="0" err="1" smtClean="0"/>
                  <a:t>np</a:t>
                </a:r>
                <a:r>
                  <a:rPr lang="en-US" dirty="0" smtClean="0"/>
                  <a:t> &gt; 5 </a:t>
                </a:r>
                <a:r>
                  <a:rPr lang="sr-Cyrl-RS" dirty="0" smtClean="0"/>
                  <a:t>може се апроксимирати као </a:t>
                </a:r>
              </a:p>
              <a:p>
                <a:pPr marL="109728" indent="0">
                  <a:buNone/>
                </a:pPr>
                <a:r>
                  <a:rPr lang="sr-Latn-RS" dirty="0" smtClean="0"/>
                  <a:t>X</a:t>
                </a:r>
                <a:r>
                  <a:rPr lang="sr-Latn-RS" b="1" dirty="0" smtClean="0"/>
                  <a:t>~</a:t>
                </a:r>
                <a:r>
                  <a:rPr lang="sr-Latn-RS" i="1" dirty="0" smtClean="0"/>
                  <a:t>N(np,np(1-p))</a:t>
                </a:r>
                <a:r>
                  <a:rPr lang="sr-Cyrl-RS" i="1" dirty="0" smtClean="0"/>
                  <a:t>.</a:t>
                </a:r>
                <a:r>
                  <a:rPr lang="sr-Cyrl-RS" dirty="0" smtClean="0"/>
                  <a:t>Познато нам је да је </a:t>
                </a:r>
                <a:r>
                  <a:rPr lang="sr-Latn-RS" dirty="0" smtClean="0"/>
                  <a:t>n</a:t>
                </a:r>
                <a:r>
                  <a:rPr lang="en-US" dirty="0" smtClean="0"/>
                  <a:t>=25</a:t>
                </a:r>
                <a:r>
                  <a:rPr lang="sr-Cyrl-RS" dirty="0" smtClean="0"/>
                  <a:t> у нормалној расподели те стога имамо </a:t>
                </a:r>
                <a:r>
                  <a:rPr lang="sr-Latn-RS" dirty="0" smtClean="0"/>
                  <a:t>X</a:t>
                </a:r>
                <a:r>
                  <a:rPr lang="sr-Latn-RS" b="1" dirty="0" smtClean="0"/>
                  <a:t>~</a:t>
                </a:r>
                <a:r>
                  <a:rPr lang="sr-Latn-RS" i="1" dirty="0" smtClean="0"/>
                  <a:t>N(</a:t>
                </a:r>
                <a:r>
                  <a:rPr lang="sr-Cyrl-RS" i="1" dirty="0" smtClean="0"/>
                  <a:t>25</a:t>
                </a:r>
                <a:r>
                  <a:rPr lang="sr-Latn-RS" i="1" dirty="0" smtClean="0"/>
                  <a:t>p,</a:t>
                </a:r>
                <a:r>
                  <a:rPr lang="sr-Cyrl-RS" i="1" dirty="0" smtClean="0"/>
                  <a:t>25</a:t>
                </a:r>
                <a:r>
                  <a:rPr lang="sr-Latn-RS" i="1" dirty="0" smtClean="0"/>
                  <a:t>p</a:t>
                </a:r>
                <a:r>
                  <a:rPr lang="sr-Cyrl-RS" i="1" dirty="0" smtClean="0"/>
                  <a:t>(1-</a:t>
                </a:r>
                <a:r>
                  <a:rPr lang="sr-Latn-RS" i="1" dirty="0" smtClean="0"/>
                  <a:t>p</a:t>
                </a:r>
                <a:r>
                  <a:rPr lang="sr-Cyrl-RS" i="1" dirty="0" smtClean="0"/>
                  <a:t>)</a:t>
                </a:r>
                <a:r>
                  <a:rPr lang="sr-Latn-RS" i="1" dirty="0" smtClean="0"/>
                  <a:t>).</a:t>
                </a:r>
                <a:r>
                  <a:rPr lang="sr-Cyrl-RS" dirty="0" smtClean="0"/>
                  <a:t>С обзиром да нам нису познати ни варијанса ни </a:t>
                </a:r>
                <a:r>
                  <a:rPr lang="sr-Latn-RS" dirty="0" smtClean="0"/>
                  <a:t>o</a:t>
                </a:r>
                <a:r>
                  <a:rPr lang="sr-Cyrl-RS" dirty="0" smtClean="0"/>
                  <a:t>чекивање користићемо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−1)</m:t>
                    </m:r>
                  </m:oMath>
                </a14:m>
                <a:r>
                  <a:rPr lang="en-US" i="1" dirty="0" smtClean="0"/>
                  <a:t> </a:t>
                </a:r>
                <a:r>
                  <a:rPr lang="sr-Cyrl-RS" dirty="0" smtClean="0"/>
                  <a:t>расподелу,односно</a:t>
                </a:r>
                <a:r>
                  <a:rPr lang="en-US" dirty="0" smtClean="0"/>
                  <a:t>:</a:t>
                </a:r>
              </a:p>
              <a:p>
                <a:pPr marL="109728" indent="0">
                  <a:buNone/>
                </a:pPr>
                <a:r>
                  <a:rPr lang="en-US" i="1" dirty="0"/>
                  <a:t>	</a:t>
                </a:r>
                <a:endParaRPr lang="en-US" i="1" dirty="0" smtClean="0"/>
              </a:p>
              <a:p>
                <a:pPr marL="109728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6000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6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6000" b="0" i="1" smtClean="0">
                                <a:latin typeface="Cambria Math"/>
                              </a:rPr>
                              <m:t>𝑠</m:t>
                            </m:r>
                          </m:e>
                          <m:sup>
                            <m:r>
                              <a:rPr lang="en-US" sz="60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sz="6000" b="0" i="1" smtClean="0">
                            <a:latin typeface="Cambria Math"/>
                          </a:rPr>
                          <m:t>(</m:t>
                        </m:r>
                        <m:r>
                          <a:rPr lang="en-US" sz="60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6000" b="0" i="1" smtClean="0">
                            <a:latin typeface="Cambria Math"/>
                          </a:rPr>
                          <m:t>−1)</m:t>
                        </m:r>
                      </m:num>
                      <m:den>
                        <m:sSup>
                          <m:sSupPr>
                            <m:ctrlPr>
                              <a:rPr lang="en-US" sz="60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6000" i="1" smtClean="0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en-US" sz="60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6000" b="1" dirty="0" smtClean="0"/>
                  <a:t> </a:t>
                </a:r>
                <a:r>
                  <a:rPr lang="sr-Latn-RS" sz="6000" b="1" dirty="0" smtClean="0"/>
                  <a:t>~</a:t>
                </a:r>
                <a:r>
                  <a:rPr lang="en-US" sz="6000" b="1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6000" b="1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6000" b="1" i="1" smtClean="0">
                            <a:latin typeface="Cambria Math"/>
                          </a:rPr>
                          <m:t>𝑿</m:t>
                        </m:r>
                      </m:e>
                      <m:sup>
                        <m:r>
                          <a:rPr lang="en-US" sz="6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sz="6000" b="1" i="1" smtClean="0">
                        <a:latin typeface="Cambria Math"/>
                      </a:rPr>
                      <m:t>(</m:t>
                    </m:r>
                    <m:r>
                      <a:rPr lang="en-US" sz="6000" b="1" i="1" smtClean="0">
                        <a:latin typeface="Cambria Math"/>
                      </a:rPr>
                      <m:t>𝒏</m:t>
                    </m:r>
                    <m:r>
                      <a:rPr lang="en-US" sz="6000" b="1" i="1" smtClean="0">
                        <a:latin typeface="Cambria Math"/>
                      </a:rPr>
                      <m:t>−</m:t>
                    </m:r>
                    <m:r>
                      <a:rPr lang="en-US" sz="6000" b="1" i="1" smtClean="0">
                        <a:latin typeface="Cambria Math"/>
                      </a:rPr>
                      <m:t>𝟏</m:t>
                    </m:r>
                    <m:r>
                      <a:rPr lang="en-US" sz="60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sr-Cyrl-RS" dirty="0" smtClean="0"/>
                  <a:t>расподелу.</a:t>
                </a:r>
                <a:endParaRPr lang="sr-Latn-RS" sz="6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620688"/>
                <a:ext cx="8784976" cy="6048672"/>
              </a:xfrm>
              <a:blipFill rotWithShape="1">
                <a:blip r:embed="rId2"/>
                <a:stretch>
                  <a:fillRect l="-139" t="-1714" r="-1387"/>
                </a:stretch>
              </a:blipFill>
            </p:spPr>
            <p:txBody>
              <a:bodyPr/>
              <a:lstStyle/>
              <a:p>
                <a:r>
                  <a:rPr lang="sr-Latn-R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67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404664"/>
                <a:ext cx="9036496" cy="6453336"/>
              </a:xfrm>
            </p:spPr>
            <p:txBody>
              <a:bodyPr>
                <a:normAutofit/>
              </a:bodyPr>
              <a:lstStyle/>
              <a:p>
                <a:r>
                  <a:rPr lang="sr-Cyrl-RS" sz="2400" dirty="0" smtClean="0"/>
                  <a:t>Постављамо једнакост </a:t>
                </a:r>
                <a14:m>
                  <m:oMath xmlns:m="http://schemas.openxmlformats.org/officeDocument/2006/math">
                    <m:r>
                      <a:rPr lang="sr-Latn-RS" sz="2400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sr-Latn-R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sr-Latn-RS" sz="2400" b="0" i="1" smtClean="0">
                            <a:latin typeface="Cambria Math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/>
                          </a:rPr>
                          <m:t>&lt;</m:t>
                        </m:r>
                        <m:f>
                          <m:fPr>
                            <m:ctrlPr>
                              <a:rPr lang="sr-Latn-RS" sz="2400" b="0" i="1" smtClean="0"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sr-Latn-RS" sz="2400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2400" b="0" i="1" smtClean="0"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sr-Latn-RS" sz="2400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sr-Latn-RS" sz="2400" b="0" i="1" smtClean="0">
                                    <a:latin typeface="Cambria Math"/>
                                    <a:ea typeface="Cambria Math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400" b="0" i="1" smtClean="0">
                            <a:latin typeface="Cambria Math"/>
                          </a:rPr>
                          <m:t>&lt;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=1−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=0.95.</m:t>
                    </m:r>
                    <m:r>
                      <a:rPr lang="sr-Cyrl-RS" sz="2400" b="0" i="0" smtClean="0">
                        <a:latin typeface="Cambria Math"/>
                        <a:ea typeface="Cambria Math"/>
                      </a:rPr>
                      <m:t>Узимамо да је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  <a:ea typeface="Cambria Math"/>
                      </a:rPr>
                      <m:t>P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24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/>
                                    <a:ea typeface="Cambria Math"/>
                                  </a:rPr>
                                  <m:t>𝑛</m:t>
                                </m:r>
                                <m:r>
                                  <a:rPr lang="en-US" sz="2400" b="0" i="1" smtClean="0">
                                    <a:latin typeface="Cambria Math"/>
                                    <a:ea typeface="Cambria Math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∗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/>
                                    <a:ea typeface="Cambria Math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/>
                                    <a:ea typeface="Cambria Math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400" b="0" i="0" smtClean="0">
                            <a:latin typeface="Cambria Math"/>
                            <a:ea typeface="Cambria Math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  <a:ea typeface="Cambria Math"/>
                          </a:rPr>
                          <m:t>A</m:t>
                        </m:r>
                      </m:e>
                    </m:d>
                    <m:r>
                      <a:rPr lang="en-US" sz="2400" b="0" i="0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𝛼</m:t>
                        </m:r>
                      </m:num>
                      <m:den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b="0" dirty="0" smtClean="0">
                    <a:ea typeface="Cambria Math"/>
                  </a:rPr>
                  <a:t>=P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𝑛</m:t>
                                </m:r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∗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400" b="0" i="0" smtClean="0">
                            <a:latin typeface="Cambria Math"/>
                            <a:ea typeface="Cambria Math"/>
                          </a:rPr>
                          <m:t>&gt;</m:t>
                        </m:r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2400" b="0" dirty="0" smtClean="0">
                    <a:ea typeface="Cambria Math"/>
                  </a:rPr>
                  <a:t>.</a:t>
                </a:r>
              </a:p>
              <a:p>
                <a:r>
                  <a:rPr lang="sr-Cyrl-RS" sz="2400" dirty="0" smtClean="0">
                    <a:ea typeface="Cambria Math"/>
                  </a:rPr>
                  <a:t>Одакле следи да су А</a:t>
                </a:r>
                <a:r>
                  <a:rPr lang="el-GR" sz="2400" dirty="0" smtClean="0">
                    <a:ea typeface="Cambria Math"/>
                  </a:rPr>
                  <a:t>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40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l-GR" sz="2400" i="1" smtClean="0">
                            <a:latin typeface="Cambria Math"/>
                            <a:ea typeface="Cambria Math"/>
                          </a:rPr>
                          <m:t>𝜀</m:t>
                        </m:r>
                      </m:e>
                      <m:sub>
                        <m:f>
                          <m:fPr>
                            <m:ctrlPr>
                              <a:rPr lang="el-GR" sz="2400" i="1" smtClean="0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l-GR" sz="2400" i="1" smtClean="0">
                                <a:latin typeface="Cambria Math"/>
                                <a:ea typeface="Cambria Math"/>
                              </a:rPr>
                              <m:t>𝛼</m:t>
                            </m:r>
                          </m:num>
                          <m:den>
                            <m:r>
                              <a:rPr lang="el-GR" sz="2400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l-GR" sz="2400" b="0" dirty="0" smtClean="0">
                    <a:ea typeface="Cambria Math"/>
                  </a:rPr>
                  <a:t> </a:t>
                </a:r>
                <a:r>
                  <a:rPr lang="sr-Cyrl-RS" sz="2400" b="0" dirty="0" smtClean="0">
                    <a:ea typeface="Cambria Math"/>
                  </a:rPr>
                  <a:t> и В</a:t>
                </a:r>
                <a:r>
                  <a:rPr lang="el-GR" sz="2400" b="0" dirty="0" smtClean="0">
                    <a:ea typeface="Cambria Math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4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l-GR" sz="2400" b="0" i="1" smtClean="0">
                            <a:latin typeface="Cambria Math"/>
                            <a:ea typeface="Cambria Math"/>
                          </a:rPr>
                          <m:t>𝜀</m:t>
                        </m:r>
                      </m:e>
                      <m:sub>
                        <m:r>
                          <a:rPr lang="el-GR" sz="2400" b="0" i="1" smtClean="0">
                            <a:latin typeface="Cambria Math"/>
                            <a:ea typeface="Cambria Math"/>
                          </a:rPr>
                          <m:t>1−</m:t>
                        </m:r>
                        <m:f>
                          <m:fPr>
                            <m:ctrlPr>
                              <a:rPr lang="el-GR" sz="2400" b="0" i="1" smtClean="0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l-GR" sz="2400" b="0" i="1" smtClean="0">
                                <a:latin typeface="Cambria Math"/>
                                <a:ea typeface="Cambria Math"/>
                              </a:rPr>
                              <m:t>𝛼</m:t>
                            </m:r>
                          </m:num>
                          <m:den>
                            <m:r>
                              <a:rPr lang="el-GR" sz="2400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l-GR" sz="2400" b="0" dirty="0" smtClean="0">
                    <a:ea typeface="Cambria Math"/>
                  </a:rPr>
                  <a:t> </a:t>
                </a:r>
                <a:r>
                  <a:rPr lang="sr-Cyrl-RS" sz="2400" b="0" dirty="0" smtClean="0">
                    <a:ea typeface="Cambria Math"/>
                  </a:rPr>
                  <a:t>квантили реда </a:t>
                </a:r>
                <a:endParaRPr lang="en-US" sz="2400" b="0" dirty="0" smtClean="0">
                  <a:ea typeface="Cambria Math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sr-Latn-RS" sz="240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sr-Latn-RS" sz="2400" i="1" smtClean="0">
                            <a:latin typeface="Cambria Math"/>
                            <a:ea typeface="Cambria Math"/>
                          </a:rPr>
                          <m:t>𝛼</m:t>
                        </m:r>
                      </m:num>
                      <m:den>
                        <m:r>
                          <a:rPr lang="sr-Cyrl-RS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sr-Cyrl-RS" sz="2400" dirty="0" smtClean="0"/>
                  <a:t> и 1-</a:t>
                </a:r>
                <a:r>
                  <a:rPr lang="sr-Latn-RS" sz="24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sr-Latn-RS" sz="2400" i="1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sr-Latn-RS" sz="2400" i="1">
                            <a:latin typeface="Cambria Math"/>
                            <a:ea typeface="Cambria Math"/>
                          </a:rPr>
                          <m:t>𝛼</m:t>
                        </m:r>
                      </m:num>
                      <m:den>
                        <m:r>
                          <a:rPr lang="sr-Cyrl-RS" sz="2400" i="1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sr-Cyrl-RS" sz="2400" dirty="0" smtClean="0"/>
                  <a:t>.</a:t>
                </a:r>
                <a:endParaRPr lang="sr-Latn-R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404664"/>
                <a:ext cx="9036496" cy="6453336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r-Latn-R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852936"/>
            <a:ext cx="5958061" cy="3740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1873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764704"/>
                <a:ext cx="8784976" cy="6048672"/>
              </a:xfrm>
            </p:spPr>
            <p:txBody>
              <a:bodyPr>
                <a:normAutofit fontScale="92500"/>
              </a:bodyPr>
              <a:lstStyle/>
              <a:p>
                <a:pPr marL="109728" indent="0">
                  <a:buNone/>
                </a:pPr>
                <a:r>
                  <a:rPr lang="sr-Cyrl-RS" dirty="0" smtClean="0"/>
                  <a:t>Даљним извођењем једнакости добијамо</a:t>
                </a:r>
                <a:endParaRPr lang="en-US" dirty="0" smtClean="0"/>
              </a:p>
              <a:p>
                <a:pPr marL="109728" indent="0">
                  <a:buNone/>
                </a:pPr>
                <a:r>
                  <a:rPr lang="sr-Cyrl-RS" dirty="0" smtClean="0"/>
                  <a:t>1</a:t>
                </a:r>
                <a:r>
                  <a:rPr lang="en-US" dirty="0" smtClean="0"/>
                  <a:t>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/>
                        <a:ea typeface="Cambria Math"/>
                      </a:rPr>
                      <m:t>α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sr-Latn-RS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sr-Latn-RS" i="1">
                            <a:latin typeface="Cambria Math"/>
                          </a:rPr>
                        </m:ctrlPr>
                      </m:dPr>
                      <m:e>
                        <m:r>
                          <a:rPr lang="sr-Latn-RS" i="1"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latin typeface="Cambria Math"/>
                          </a:rPr>
                          <m:t>&lt;</m:t>
                        </m:r>
                        <m:f>
                          <m:fPr>
                            <m:ctrlPr>
                              <a:rPr lang="sr-Latn-RS" i="1"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sr-Latn-RS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sr-Latn-RS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sr-Latn-RS" i="1">
                                    <a:latin typeface="Cambria Math"/>
                                    <a:ea typeface="Cambria Math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i="1">
                            <a:latin typeface="Cambria Math"/>
                          </a:rPr>
                          <m:t>&lt;</m:t>
                        </m:r>
                        <m:r>
                          <a:rPr lang="en-US" i="1">
                            <a:latin typeface="Cambria Math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 smtClean="0"/>
                  <a:t>=P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sr-Latn-RS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l-GR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/>
                                <a:ea typeface="Cambria Math"/>
                              </a:rPr>
                              <m:t>𝜀</m:t>
                            </m:r>
                          </m:e>
                          <m:sub>
                            <m:f>
                              <m:fPr>
                                <m:ctrlPr>
                                  <a:rPr lang="el-GR" i="1"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el-GR" i="1">
                                    <a:latin typeface="Cambria Math"/>
                                    <a:ea typeface="Cambria Math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l-GR" i="1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&lt;</m:t>
                        </m:r>
                        <m:f>
                          <m:fPr>
                            <m:ctrlPr>
                              <a:rPr lang="sr-Latn-RS" i="1"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sr-Latn-RS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sr-Latn-RS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sr-Latn-RS" i="1">
                                    <a:latin typeface="Cambria Math"/>
                                    <a:ea typeface="Cambria Math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i="1">
                            <a:latin typeface="Cambria Math"/>
                          </a:rPr>
                          <m:t>&lt;</m:t>
                        </m:r>
                        <m:sSub>
                          <m:sSubPr>
                            <m:ctrlPr>
                              <a:rPr lang="el-GR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/>
                                <a:ea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l-GR" i="1">
                                <a:latin typeface="Cambria Math"/>
                                <a:ea typeface="Cambria Math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l-GR" i="1"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el-GR" i="1">
                                    <a:latin typeface="Cambria Math"/>
                                    <a:ea typeface="Cambria Math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l-GR" i="1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e>
                    </m:d>
                  </m:oMath>
                </a14:m>
                <a:r>
                  <a:rPr lang="en-US" dirty="0" smtClean="0"/>
                  <a:t>=</a:t>
                </a:r>
              </a:p>
              <a:p>
                <a:pPr marL="109728" indent="0">
                  <a:buNone/>
                </a:pPr>
                <a:r>
                  <a:rPr lang="en-US" dirty="0"/>
                  <a:t>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sr-Latn-RS" i="1" smtClean="0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sr-Latn-RS" i="1" smtClean="0">
                                <a:latin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/>
                              </a:rPr>
                              <m:t>∗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l-GR" i="1"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l-GR" i="1">
                                    <a:latin typeface="Cambria Math"/>
                                    <a:ea typeface="Cambria Math"/>
                                  </a:rPr>
                                  <m:t>𝜀</m:t>
                                </m:r>
                              </m:e>
                              <m:sub>
                                <m:f>
                                  <m:fPr>
                                    <m:ctrlPr>
                                      <a:rPr lang="el-GR" i="1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l-GR" i="1">
                                        <a:latin typeface="Cambria Math"/>
                                        <a:ea typeface="Cambria Math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l-GR" i="1">
                                        <a:latin typeface="Cambria Math"/>
                                        <a:ea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&gt;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/>
                          </a:rPr>
                          <m:t>&gt;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i="1">
                                <a:latin typeface="Cambria Math"/>
                              </a:rPr>
                              <m:t>∗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l-GR" i="1"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l-GR" i="1">
                                    <a:latin typeface="Cambria Math"/>
                                    <a:ea typeface="Cambria Math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l-GR" i="1">
                                    <a:latin typeface="Cambria Math"/>
                                    <a:ea typeface="Cambria Math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l-GR" i="1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l-GR" i="1">
                                        <a:latin typeface="Cambria Math"/>
                                        <a:ea typeface="Cambria Math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l-GR" i="1">
                                        <a:latin typeface="Cambria Math"/>
                                        <a:ea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sub>
                            </m:sSub>
                          </m:den>
                        </m:f>
                      </m:e>
                    </m:d>
                    <m:r>
                      <a:rPr lang="en-US" b="0" i="0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sr-Cyrl-RS" dirty="0" smtClean="0"/>
                  <a:t>где је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r-Cyrl-R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  <m:r>
                          <a:rPr lang="en-US" b="0" i="1" smtClean="0">
                            <a:latin typeface="Cambria Math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/>
                          </a:rPr>
                          <m:t>𝑘</m:t>
                        </m:r>
                        <m:r>
                          <a:rPr lang="en-US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−</m:t>
                                </m:r>
                              </m:sub>
                            </m:sSub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/>
                                    <a:ea typeface="Cambria Math"/>
                                  </a:rPr>
                                  <m:t>𝜇</m:t>
                                </m:r>
                              </m:e>
                            </m:acc>
                            <m:r>
                              <a:rPr lang="en-US" b="0" i="1" smtClean="0"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 smtClean="0"/>
                  <a:t>,</a:t>
                </a:r>
                <a:r>
                  <a:rPr lang="sr-Cyrl-RS" dirty="0" smtClean="0"/>
                  <a:t>док је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</m:acc>
                  </m:oMath>
                </a14:m>
                <a:r>
                  <a:rPr lang="sr-Cyrl-RS" dirty="0" smtClean="0"/>
                  <a:t> аритметичка средина свих узорака.Што значи да је </a:t>
                </a:r>
                <a:r>
                  <a:rPr lang="sr-Cyrl-RS" dirty="0"/>
                  <a:t>1</a:t>
                </a:r>
                <a:r>
                  <a:rPr lang="en-US" dirty="0"/>
                  <a:t>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/>
                        <a:ea typeface="Cambria Math"/>
                      </a:rPr>
                      <m:t>α</m:t>
                    </m:r>
                    <m:r>
                      <a:rPr lang="sr-Cyrl-RS" b="0" i="0" smtClean="0">
                        <a:latin typeface="Cambria Math"/>
                        <a:ea typeface="Cambria Math"/>
                      </a:rPr>
                      <m:t> интервал поверења</m:t>
                    </m:r>
                  </m:oMath>
                </a14:m>
                <a:r>
                  <a:rPr lang="sr-Cyrl-RS" dirty="0" smtClean="0"/>
                  <a:t> за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sr-Cyrl-RS" dirty="0" smtClean="0"/>
                  <a:t> једнак </a:t>
                </a:r>
                <a:r>
                  <a:rPr lang="en-US" dirty="0" smtClean="0"/>
                  <a:t>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r-Latn-RS" i="1">
                            <a:latin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i="1">
                                <a:latin typeface="Cambria Math"/>
                              </a:rPr>
                              <m:t>−1</m:t>
                            </m:r>
                          </m:e>
                        </m:d>
                        <m:r>
                          <a:rPr lang="en-US" i="1">
                            <a:latin typeface="Cambria Math"/>
                          </a:rPr>
                          <m:t>∗</m:t>
                        </m:r>
                        <m:sSup>
                          <m:s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l-GR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/>
                                <a:ea typeface="Cambria Math"/>
                              </a:rPr>
                              <m:t>𝜀</m:t>
                            </m:r>
                          </m:e>
                          <m:sub>
                            <m:f>
                              <m:fPr>
                                <m:ctrlPr>
                                  <a:rPr lang="el-GR" i="1"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el-GR" i="1">
                                    <a:latin typeface="Cambria Math"/>
                                    <a:ea typeface="Cambria Math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l-GR" i="1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den>
                    </m:f>
                  </m:oMath>
                </a14:m>
                <a:r>
                  <a:rPr lang="en-US" dirty="0" smtClean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i="1">
                                <a:latin typeface="Cambria Math"/>
                              </a:rPr>
                              <m:t>−1</m:t>
                            </m:r>
                          </m:e>
                        </m:d>
                        <m:r>
                          <a:rPr lang="en-US" i="1">
                            <a:latin typeface="Cambria Math"/>
                          </a:rPr>
                          <m:t>∗</m:t>
                        </m:r>
                        <m:sSup>
                          <m:s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l-GR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/>
                                <a:ea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l-GR" i="1">
                                <a:latin typeface="Cambria Math"/>
                                <a:ea typeface="Cambria Math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l-GR" i="1"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el-GR" i="1">
                                    <a:latin typeface="Cambria Math"/>
                                    <a:ea typeface="Cambria Math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l-GR" i="1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den>
                    </m:f>
                  </m:oMath>
                </a14:m>
                <a:r>
                  <a:rPr lang="en-US" dirty="0" smtClean="0"/>
                  <a:t>].</a:t>
                </a:r>
                <a:r>
                  <a:rPr lang="sr-Cyrl-RS" dirty="0" smtClean="0"/>
                  <a:t>У овом примеру обим узорка </a:t>
                </a:r>
              </a:p>
              <a:p>
                <a:pPr marL="109728" indent="0">
                  <a:buNone/>
                </a:pPr>
                <a:r>
                  <a:rPr lang="sr-Latn-RS" dirty="0" smtClean="0"/>
                  <a:t>n</a:t>
                </a:r>
                <a:r>
                  <a:rPr lang="en-US" dirty="0" smtClean="0"/>
                  <a:t>=</a:t>
                </a:r>
                <a:r>
                  <a:rPr lang="sr-Cyrl-RS" dirty="0" smtClean="0"/>
                  <a:t>35,</a:t>
                </a:r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</m:acc>
                  </m:oMath>
                </a14:m>
                <a:r>
                  <a:rPr lang="en-US" dirty="0" smtClean="0"/>
                  <a:t>=4.86,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=3.54.</a:t>
                </a:r>
                <a:r>
                  <a:rPr lang="sr-Cyrl-RS" dirty="0" smtClean="0"/>
                  <a:t>Након кратког рачуна добија се</a:t>
                </a:r>
              </a:p>
              <a:p>
                <a:pPr marL="109728" indent="0">
                  <a:buNone/>
                </a:pPr>
                <a:r>
                  <a:rPr lang="sr-Cyrl-RS" dirty="0" smtClean="0"/>
                  <a:t>Граница вероватноће у функцији оба квантила што је приказано на следећем слајду.</a:t>
                </a:r>
                <a:endParaRPr lang="sr-Latn-R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764704"/>
                <a:ext cx="8784976" cy="6048672"/>
              </a:xfrm>
              <a:blipFill rotWithShape="1">
                <a:blip r:embed="rId2"/>
                <a:stretch>
                  <a:fillRect t="-906"/>
                </a:stretch>
              </a:blipFill>
            </p:spPr>
            <p:txBody>
              <a:bodyPr/>
              <a:lstStyle/>
              <a:p>
                <a:r>
                  <a:rPr lang="sr-Latn-R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259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34304" y="4437112"/>
                <a:ext cx="9178304" cy="2160240"/>
              </a:xfrm>
            </p:spPr>
            <p:txBody>
              <a:bodyPr>
                <a:normAutofit/>
              </a:bodyPr>
              <a:lstStyle/>
              <a:p>
                <a:endParaRPr lang="en-US" sz="2400" dirty="0" smtClean="0"/>
              </a:p>
              <a:p>
                <a:r>
                  <a:rPr lang="sr-Cyrl-RS" sz="2400" dirty="0" smtClean="0"/>
                  <a:t>Сада је потребно израчунати квантиле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4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l-GR" sz="2400" i="1">
                            <a:latin typeface="Cambria Math"/>
                            <a:ea typeface="Cambria Math"/>
                          </a:rPr>
                          <m:t>𝜀</m:t>
                        </m:r>
                      </m:e>
                      <m:sub>
                        <m:f>
                          <m:fPr>
                            <m:ctrlPr>
                              <a:rPr lang="el-GR" sz="24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l-GR" sz="2400" i="1">
                                <a:latin typeface="Cambria Math"/>
                                <a:ea typeface="Cambria Math"/>
                              </a:rPr>
                              <m:t>𝛼</m:t>
                            </m:r>
                          </m:num>
                          <m:den>
                            <m:r>
                              <a:rPr lang="el-GR" sz="2400" i="1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sr-Cyrl-RS" sz="2400" dirty="0" smtClean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4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l-GR" sz="2400" i="1">
                            <a:latin typeface="Cambria Math"/>
                            <a:ea typeface="Cambria Math"/>
                          </a:rPr>
                          <m:t>𝜀</m:t>
                        </m:r>
                      </m:e>
                      <m:sub>
                        <m:r>
                          <a:rPr lang="el-GR" sz="2400" i="1">
                            <a:latin typeface="Cambria Math"/>
                            <a:ea typeface="Cambria Math"/>
                          </a:rPr>
                          <m:t>1−</m:t>
                        </m:r>
                        <m:f>
                          <m:fPr>
                            <m:ctrlPr>
                              <a:rPr lang="el-GR" sz="24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l-GR" sz="2400" i="1">
                                <a:latin typeface="Cambria Math"/>
                                <a:ea typeface="Cambria Math"/>
                              </a:rPr>
                              <m:t>𝛼</m:t>
                            </m:r>
                          </m:num>
                          <m:den>
                            <m:r>
                              <a:rPr lang="el-GR" sz="2400" i="1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sr-Cyrl-RS" sz="2400" dirty="0" smtClean="0"/>
                  <a:t>.Пошто је обим узорка </a:t>
                </a:r>
                <a:r>
                  <a:rPr lang="en-US" sz="2400" dirty="0" smtClean="0"/>
                  <a:t>n&gt;30 </a:t>
                </a:r>
                <a:r>
                  <a:rPr lang="sr-Cyrl-RS" sz="2400" dirty="0" smtClean="0"/>
                  <a:t>користи се апроксимација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r-Cyrl-RS" sz="2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sr-Cyrl-RS" sz="2400" i="1" smtClean="0">
                            <a:latin typeface="Cambria Math"/>
                            <a:ea typeface="Cambria Math"/>
                          </a:rPr>
                          <m:t>𝜀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</a:rPr>
                      <m:t>𝑛</m:t>
                    </m:r>
                    <m:r>
                      <a:rPr lang="en-US" sz="2400" b="0" i="1" smtClean="0">
                        <a:latin typeface="Cambria Math"/>
                      </a:rPr>
                      <m:t>+</m:t>
                    </m:r>
                    <m:rad>
                      <m:radPr>
                        <m:degHide m:val="on"/>
                        <m:ctrlPr>
                          <a:rPr lang="sr-Latn-RS" sz="2400" i="1" dirty="0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2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𝑛</m:t>
                        </m:r>
                      </m:e>
                    </m:rad>
                    <m:sSup>
                      <m:sSupPr>
                        <m:ctrlPr>
                          <a:rPr lang="sr-Latn-RS" sz="2400" i="1" dirty="0" smtClean="0">
                            <a:latin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sr-Cyrl-R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sr-Cyrl-RS" sz="2400" i="1">
                                <a:latin typeface="Cambria Math"/>
                                <a:ea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𝑢</m:t>
                            </m:r>
                          </m:sub>
                        </m:sSub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 smtClean="0"/>
                  <a:t> </a:t>
                </a:r>
                <a:r>
                  <a:rPr lang="sr-Cyrl-RS" sz="2400" dirty="0" smtClean="0"/>
                  <a:t>где је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r-Latn-RS" sz="2400" i="1" dirty="0">
                            <a:latin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sr-Cyrl-R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sr-Cyrl-RS" sz="2400" i="1">
                                <a:latin typeface="Cambria Math"/>
                                <a:ea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𝑢</m:t>
                            </m:r>
                          </m:sub>
                        </m:sSub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sr-Cyrl-RS" sz="2400" dirty="0" smtClean="0"/>
                  <a:t> квантил из стандардне нормалне расподеле.(Таблица1).</a:t>
                </a:r>
                <a:endParaRPr lang="sr-Latn-R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34304" y="4437112"/>
                <a:ext cx="9178304" cy="2160240"/>
              </a:xfrm>
              <a:blipFill rotWithShape="1">
                <a:blip r:embed="rId2"/>
                <a:stretch>
                  <a:fillRect b="-5650"/>
                </a:stretch>
              </a:blipFill>
            </p:spPr>
            <p:txBody>
              <a:bodyPr/>
              <a:lstStyle/>
              <a:p>
                <a:r>
                  <a:rPr lang="sr-Latn-R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367"/>
          <a:stretch/>
        </p:blipFill>
        <p:spPr bwMode="auto">
          <a:xfrm>
            <a:off x="539552" y="764704"/>
            <a:ext cx="7488832" cy="3891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3901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692696"/>
                <a:ext cx="9144000" cy="6165304"/>
              </a:xfrm>
            </p:spPr>
            <p:txBody>
              <a:bodyPr/>
              <a:lstStyle/>
              <a:p>
                <a:r>
                  <a:rPr lang="sr-Cyrl-RS" dirty="0" smtClean="0"/>
                  <a:t>Након израчунавања квантила добија се опсег у коме се налази </a:t>
                </a:r>
                <a:r>
                  <a:rPr lang="sr-Latn-RS" i="1" dirty="0"/>
                  <a:t>p</a:t>
                </a:r>
                <a:r>
                  <a:rPr lang="sr-Cyrl-RS" i="1" dirty="0"/>
                  <a:t>(1-</a:t>
                </a:r>
                <a:r>
                  <a:rPr lang="sr-Latn-RS" i="1" dirty="0"/>
                  <a:t>p</a:t>
                </a:r>
                <a:r>
                  <a:rPr lang="sr-Cyrl-RS" i="1" dirty="0" smtClean="0"/>
                  <a:t>)</a:t>
                </a:r>
                <a:r>
                  <a:rPr lang="en-US" i="1" dirty="0" smtClean="0"/>
                  <a:t> </a:t>
                </a:r>
                <a:r>
                  <a:rPr lang="sr-Cyrl-RS" dirty="0" smtClean="0"/>
                  <a:t>након чега се решавањем квадратне неједначине </a:t>
                </a:r>
                <a:r>
                  <a:rPr lang="sr-Cyrl-RS" dirty="0" smtClean="0"/>
                  <a:t>добија</a:t>
                </a:r>
                <a:r>
                  <a:rPr lang="en-US" dirty="0" smtClean="0"/>
                  <a:t> </a:t>
                </a:r>
                <a:r>
                  <a:rPr lang="sr-Cyrl-RS" dirty="0" smtClean="0"/>
                  <a:t>да </a:t>
                </a:r>
                <a:r>
                  <a:rPr lang="en-US" dirty="0" smtClean="0"/>
                  <a:t>p</a:t>
                </a:r>
                <a14:m>
                  <m:oMath xmlns:m="http://schemas.openxmlformats.org/officeDocument/2006/math">
                    <m:r>
                      <a:rPr lang="sr-Cyrl-RS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[0.11,0.88]</m:t>
                    </m:r>
                  </m:oMath>
                </a14:m>
                <a:r>
                  <a:rPr lang="en-US" i="1" dirty="0" smtClean="0"/>
                  <a:t>:</a:t>
                </a:r>
              </a:p>
              <a:p>
                <a:pPr marL="109728" indent="0">
                  <a:buNone/>
                </a:pPr>
                <a:endParaRPr lang="sr-Latn-R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2696"/>
                <a:ext cx="9144000" cy="6165304"/>
              </a:xfrm>
              <a:blipFill rotWithShape="1">
                <a:blip r:embed="rId2"/>
                <a:stretch>
                  <a:fillRect t="-989"/>
                </a:stretch>
              </a:blipFill>
            </p:spPr>
            <p:txBody>
              <a:bodyPr/>
              <a:lstStyle/>
              <a:p>
                <a:r>
                  <a:rPr lang="sr-Latn-R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75"/>
          <a:stretch/>
        </p:blipFill>
        <p:spPr bwMode="auto">
          <a:xfrm>
            <a:off x="179512" y="2600299"/>
            <a:ext cx="4636836" cy="3816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8488" y="2600300"/>
            <a:ext cx="3879940" cy="3794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042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620688"/>
            <a:ext cx="8579296" cy="648072"/>
          </a:xfrm>
        </p:spPr>
        <p:txBody>
          <a:bodyPr>
            <a:normAutofit fontScale="90000"/>
          </a:bodyPr>
          <a:lstStyle/>
          <a:p>
            <a:r>
              <a:rPr lang="sr-Cyrl-RS" dirty="0" smtClean="0"/>
              <a:t>Коментар </a:t>
            </a:r>
            <a:endParaRPr lang="sr-Latn-R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484784"/>
                <a:ext cx="8507288" cy="5256584"/>
              </a:xfrm>
            </p:spPr>
            <p:txBody>
              <a:bodyPr/>
              <a:lstStyle/>
              <a:p>
                <a:r>
                  <a:rPr lang="sr-Cyrl-RS" dirty="0" smtClean="0"/>
                  <a:t>Добијена вероватноћа методом максималне веродостојности блиска је теоријској вероватноћи. </a:t>
                </a:r>
              </a:p>
              <a:p>
                <a:r>
                  <a:rPr lang="sr-Cyrl-RS" dirty="0" smtClean="0"/>
                  <a:t>Што је узорак већег обима, то је вероватноћа </a:t>
                </a:r>
                <a:r>
                  <a:rPr lang="sr-Latn-RS" dirty="0" smtClean="0"/>
                  <a:t>p</a:t>
                </a:r>
                <a:r>
                  <a:rPr lang="sr-Cyrl-RS" dirty="0" smtClean="0"/>
                  <a:t> ближа теоријској верованоћи.</a:t>
                </a:r>
              </a:p>
              <a:p>
                <a:r>
                  <a:rPr lang="sr-Cyrl-RS" dirty="0" smtClean="0"/>
                  <a:t>Параметар </a:t>
                </a:r>
                <a:r>
                  <a:rPr lang="sr-Latn-RS" dirty="0" smtClean="0"/>
                  <a:t>p</a:t>
                </a:r>
                <a:r>
                  <a:rPr lang="sr-Cyrl-RS" dirty="0" smtClean="0"/>
                  <a:t> се са вероватноћом 95% налази у интервалу поверења:</a:t>
                </a:r>
                <a:r>
                  <a:rPr lang="en-US" dirty="0"/>
                  <a:t>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r-Latn-RS" i="1">
                            <a:latin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i="1">
                                <a:latin typeface="Cambria Math"/>
                              </a:rPr>
                              <m:t>−1</m:t>
                            </m:r>
                          </m:e>
                        </m:d>
                        <m:r>
                          <a:rPr lang="en-US" i="1">
                            <a:latin typeface="Cambria Math"/>
                          </a:rPr>
                          <m:t>∗</m:t>
                        </m:r>
                        <m:sSup>
                          <m:s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l-GR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/>
                                <a:ea typeface="Cambria Math"/>
                              </a:rPr>
                              <m:t>𝜀</m:t>
                            </m:r>
                          </m:e>
                          <m:sub>
                            <m:f>
                              <m:fPr>
                                <m:ctrlPr>
                                  <a:rPr lang="el-GR" i="1"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el-GR" i="1">
                                    <a:latin typeface="Cambria Math"/>
                                    <a:ea typeface="Cambria Math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l-GR" i="1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den>
                    </m:f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i="1">
                                <a:latin typeface="Cambria Math"/>
                              </a:rPr>
                              <m:t>−1</m:t>
                            </m:r>
                          </m:e>
                        </m:d>
                        <m:r>
                          <a:rPr lang="en-US" i="1">
                            <a:latin typeface="Cambria Math"/>
                          </a:rPr>
                          <m:t>∗</m:t>
                        </m:r>
                        <m:sSup>
                          <m:s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l-GR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/>
                                <a:ea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el-GR" i="1">
                                <a:latin typeface="Cambria Math"/>
                                <a:ea typeface="Cambria Math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l-GR" i="1"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el-GR" i="1">
                                    <a:latin typeface="Cambria Math"/>
                                    <a:ea typeface="Cambria Math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el-GR" i="1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den>
                    </m:f>
                  </m:oMath>
                </a14:m>
                <a:r>
                  <a:rPr lang="en-US" dirty="0" smtClean="0"/>
                  <a:t>].</a:t>
                </a:r>
                <a:endParaRPr lang="sr-Latn-RS" dirty="0" smtClean="0"/>
              </a:p>
              <a:p>
                <a:r>
                  <a:rPr lang="sr-Cyrl-RS" dirty="0" smtClean="0"/>
                  <a:t>На аналоган начин се ради и за све друге узорке.</a:t>
                </a:r>
                <a:endParaRPr lang="sr-Latn-R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484784"/>
                <a:ext cx="8507288" cy="5256584"/>
              </a:xfrm>
              <a:blipFill rotWithShape="1">
                <a:blip r:embed="rId2"/>
                <a:stretch>
                  <a:fillRect t="-1160"/>
                </a:stretch>
              </a:blipFill>
            </p:spPr>
            <p:txBody>
              <a:bodyPr/>
              <a:lstStyle/>
              <a:p>
                <a:r>
                  <a:rPr lang="sr-Latn-R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2026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2696"/>
            <a:ext cx="4906888" cy="576064"/>
          </a:xfrm>
        </p:spPr>
        <p:txBody>
          <a:bodyPr>
            <a:normAutofit fontScale="90000"/>
          </a:bodyPr>
          <a:lstStyle/>
          <a:p>
            <a:r>
              <a:rPr lang="sr-Cyrl-RS" dirty="0" smtClean="0"/>
              <a:t>Литература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340768"/>
            <a:ext cx="8363272" cy="5233768"/>
          </a:xfrm>
        </p:spPr>
        <p:txBody>
          <a:bodyPr/>
          <a:lstStyle/>
          <a:p>
            <a:r>
              <a:rPr lang="sr-Cyrl-RS" dirty="0" smtClean="0"/>
              <a:t>Милан Меркле за инжињере и студенте </a:t>
            </a:r>
            <a:r>
              <a:rPr lang="sr-Cyrl-RS" dirty="0"/>
              <a:t>технике четврто и допуњено </a:t>
            </a:r>
            <a:r>
              <a:rPr lang="sr-Cyrl-RS" dirty="0" smtClean="0"/>
              <a:t>издање</a:t>
            </a:r>
          </a:p>
          <a:p>
            <a:r>
              <a:rPr lang="sr-Latn-RS" dirty="0">
                <a:hlinkClick r:id="rId2"/>
              </a:rPr>
              <a:t>https://www.programiz.com/python-programming/online-compiler</a:t>
            </a:r>
            <a:r>
              <a:rPr lang="sr-Latn-RS" dirty="0" smtClean="0">
                <a:hlinkClick r:id="rId2"/>
              </a:rPr>
              <a:t>/</a:t>
            </a:r>
            <a:endParaRPr lang="sr-Cyrl-RS" dirty="0" smtClean="0"/>
          </a:p>
          <a:p>
            <a:r>
              <a:rPr lang="sr-Latn-RS" dirty="0">
                <a:hlinkClick r:id="rId3"/>
              </a:rPr>
              <a:t>https://www.online-python.com</a:t>
            </a:r>
            <a:r>
              <a:rPr lang="sr-Latn-RS" dirty="0" smtClean="0">
                <a:hlinkClick r:id="rId3"/>
              </a:rPr>
              <a:t>/</a:t>
            </a:r>
            <a:endParaRPr lang="sr-Cyrl-RS" dirty="0" smtClean="0"/>
          </a:p>
          <a:p>
            <a:r>
              <a:rPr lang="sr-Latn-RS" dirty="0">
                <a:hlinkClick r:id="rId4"/>
              </a:rPr>
              <a:t>https://</a:t>
            </a:r>
            <a:r>
              <a:rPr lang="sr-Latn-RS" dirty="0" smtClean="0">
                <a:hlinkClick r:id="rId4"/>
              </a:rPr>
              <a:t>www.onlinegdb.com/online_python_compiler</a:t>
            </a:r>
            <a:endParaRPr lang="sr-Cyrl-RS" dirty="0" smtClean="0"/>
          </a:p>
          <a:p>
            <a:r>
              <a:rPr lang="sr-Cyrl-RS" dirty="0" smtClean="0"/>
              <a:t>График са предавања и вежби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69173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462</TotalTime>
  <Words>1099</Words>
  <Application>Microsoft Office PowerPoint</Application>
  <PresentationFormat>On-screen Show (4:3)</PresentationFormat>
  <Paragraphs>45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Urban</vt:lpstr>
      <vt:lpstr>Лаб. задатак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Коментар </vt:lpstr>
      <vt:lpstr>Литература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Лаб. задатак</dc:title>
  <dc:creator>Win 10</dc:creator>
  <cp:lastModifiedBy>Win 10</cp:lastModifiedBy>
  <cp:revision>52</cp:revision>
  <dcterms:created xsi:type="dcterms:W3CDTF">2024-05-31T20:12:26Z</dcterms:created>
  <dcterms:modified xsi:type="dcterms:W3CDTF">2024-06-01T22:56:11Z</dcterms:modified>
</cp:coreProperties>
</file>